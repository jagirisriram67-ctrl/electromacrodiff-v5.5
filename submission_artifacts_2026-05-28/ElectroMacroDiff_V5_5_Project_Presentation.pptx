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  <p:sldId id="261" r:id="rId6"/>
    <p:sldId id="262" r:id="rId5"/>
    <p:sldId id="263" r:id="rId4"/>
    <p:sldId id="264" r:id="rId3"/>
    <p:sldId id="265" r:id="rId2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9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0D75F-73F6-467C-8B5A-E96364E1170A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F4ECA-A2DA-4C65-B4BB-80B02CF08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9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ctr"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154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08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7509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631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4515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333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995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8224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02131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1189201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ElectroMacroDiff V5.5: Pocket-Electronic Macrocycle Discovery for JAK2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270"/>
                </a:solidFill>
              </a:defRPr>
            </a:pPr>
            <a:r>
              <a:t>RTRP II-II 2026 Project Presentation | Date: 28-May-2026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32D3C"/>
                </a:solidFill>
              </a:defRPr>
            </a:pPr>
            <a:r>
              <a:t>Team Members: Member 1, Member 2, Member 3, Member 4, Member 5</a:t>
            </a:r>
          </a:p>
          <a:p>
            <a:pPr>
              <a:spcAft>
                <a:spcPts val="500"/>
              </a:spcAft>
              <a:defRPr sz="1800">
                <a:solidFill>
                  <a:srgbClr val="232D3C"/>
                </a:solidFill>
              </a:defRPr>
            </a:pPr>
            <a:r>
              <a:t>Mentor: To be added</a:t>
            </a:r>
          </a:p>
          <a:p>
            <a:pPr>
              <a:spcAft>
                <a:spcPts val="500"/>
              </a:spcAft>
              <a:defRPr sz="1800">
                <a:solidFill>
                  <a:srgbClr val="232D3C"/>
                </a:solidFill>
              </a:defRPr>
            </a:pPr>
            <a:r>
              <a:t>Domain: AI for Drug Discovery / Computational Biology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417320"/>
            <a:ext cx="2651760" cy="914400"/>
          </a:xfrm>
          <a:prstGeom prst="roundRect">
            <a:avLst/>
          </a:prstGeom>
          <a:solidFill>
            <a:srgbClr val="F2F7FC"/>
          </a:solidFill>
          <a:ln>
            <a:solidFill>
              <a:srgbClr val="B4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4E79"/>
                </a:solidFill>
              </a:defRPr>
            </a:pPr>
            <a:r>
              <a:t>1,113</a:t>
            </a:r>
          </a:p>
          <a:p>
            <a:pPr algn="ctr">
              <a:defRPr sz="1050">
                <a:solidFill>
                  <a:srgbClr val="46505F"/>
                </a:solidFill>
              </a:defRPr>
            </a:pPr>
            <a:r>
              <a:t>V5.5 candidates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514600"/>
            <a:ext cx="2651760" cy="914400"/>
          </a:xfrm>
          <a:prstGeom prst="roundRect">
            <a:avLst/>
          </a:prstGeom>
          <a:solidFill>
            <a:srgbClr val="F2F7FC"/>
          </a:solidFill>
          <a:ln>
            <a:solidFill>
              <a:srgbClr val="B4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4E79"/>
                </a:solidFill>
              </a:defRPr>
            </a:pPr>
            <a:r>
              <a:t>-12.7</a:t>
            </a:r>
          </a:p>
          <a:p>
            <a:pPr algn="ctr">
              <a:defRPr sz="1050">
                <a:solidFill>
                  <a:srgbClr val="46505F"/>
                </a:solidFill>
              </a:defRPr>
            </a:pPr>
            <a:r>
              <a:t>Best Vina-GPU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3611880"/>
            <a:ext cx="2651760" cy="914400"/>
          </a:xfrm>
          <a:prstGeom prst="roundRect">
            <a:avLst/>
          </a:prstGeom>
          <a:solidFill>
            <a:srgbClr val="F2F7FC"/>
          </a:solidFill>
          <a:ln>
            <a:solidFill>
              <a:srgbClr val="B4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4E79"/>
                </a:solidFill>
              </a:defRPr>
            </a:pPr>
            <a:r>
              <a:t>54/54</a:t>
            </a:r>
          </a:p>
          <a:p>
            <a:pPr algn="ctr">
              <a:defRPr sz="1050">
                <a:solidFill>
                  <a:srgbClr val="46505F"/>
                </a:solidFill>
              </a:defRPr>
            </a:pPr>
            <a:r>
              <a:t>Validation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270"/>
                </a:solidFill>
              </a:defRPr>
            </a:pPr>
            <a:r>
              <a:t>Narrative aligned to the supplied RTRP presentation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32D3C"/>
                </a:solidFill>
              </a:defRPr>
            </a:pPr>
            <a:r>
              <a:t>Introduction and problem statement</a:t>
            </a:r>
          </a:p>
          <a:p>
            <a:pPr>
              <a:spcAft>
                <a:spcPts val="500"/>
              </a:spcAft>
              <a:defRPr sz="1800">
                <a:solidFill>
                  <a:srgbClr val="232D3C"/>
                </a:solidFill>
              </a:defRPr>
            </a:pPr>
            <a:r>
              <a:t>Requirement and objectives</a:t>
            </a:r>
          </a:p>
          <a:p>
            <a:pPr>
              <a:spcAft>
                <a:spcPts val="500"/>
              </a:spcAft>
              <a:defRPr sz="1800">
                <a:solidFill>
                  <a:srgbClr val="232D3C"/>
                </a:solidFill>
              </a:defRPr>
            </a:pPr>
            <a:r>
              <a:t>Architecture and implementation</a:t>
            </a:r>
          </a:p>
          <a:p>
            <a:pPr>
              <a:spcAft>
                <a:spcPts val="500"/>
              </a:spcAft>
              <a:defRPr sz="1800">
                <a:solidFill>
                  <a:srgbClr val="232D3C"/>
                </a:solidFill>
              </a:defRPr>
            </a:pPr>
            <a:r>
              <a:t>MED vs EMD benchmark evidence</a:t>
            </a:r>
          </a:p>
          <a:p>
            <a:pPr>
              <a:spcAft>
                <a:spcPts val="500"/>
              </a:spcAft>
              <a:defRPr sz="1800">
                <a:solidFill>
                  <a:srgbClr val="232D3C"/>
                </a:solidFill>
              </a:defRPr>
            </a:pPr>
            <a:r>
              <a:t>Docking, pocket-fit, and top candidate results</a:t>
            </a:r>
          </a:p>
          <a:p>
            <a:pPr>
              <a:spcAft>
                <a:spcPts val="500"/>
              </a:spcAft>
              <a:defRPr sz="1800">
                <a:solidFill>
                  <a:srgbClr val="232D3C"/>
                </a:solidFill>
              </a:defRPr>
            </a:pPr>
            <a:r>
              <a:t>3D dashboard and validation</a:t>
            </a:r>
          </a:p>
          <a:p>
            <a:pPr>
              <a:spcAft>
                <a:spcPts val="500"/>
              </a:spcAft>
              <a:defRPr sz="1800">
                <a:solidFill>
                  <a:srgbClr val="232D3C"/>
                </a:solidFill>
              </a:defRPr>
            </a:pPr>
            <a:r>
              <a:t>Limitations, learnings, and V6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86384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270"/>
                </a:solidFill>
              </a:defRPr>
            </a:pPr>
            <a:r>
              <a:t>Why JAK2 macrocycle generation needs an evidence-first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D3C"/>
                </a:solidFill>
              </a:defRPr>
            </a:pPr>
            <a:r>
              <a:t>JAK2 inhibitors require balancing potency, selectivity, ADMET feasibility, and binding-pocket fit.</a:t>
            </a:r>
          </a:p>
          <a:p>
            <a:pPr>
              <a:spcAft>
                <a:spcPts val="500"/>
              </a:spcAft>
              <a:defRPr sz="1500">
                <a:solidFill>
                  <a:srgbClr val="232D3C"/>
                </a:solidFill>
              </a:defRPr>
            </a:pPr>
            <a:r>
              <a:t>Macrocycles can improve conformational control, but valid ring closure and linker novelty are difficult.</a:t>
            </a:r>
          </a:p>
          <a:p>
            <a:pPr>
              <a:spcAft>
                <a:spcPts val="500"/>
              </a:spcAft>
              <a:defRPr sz="1500">
                <a:solidFill>
                  <a:srgbClr val="232D3C"/>
                </a:solidFill>
              </a:defRPr>
            </a:pPr>
            <a:r>
              <a:t>ElectroMacroDiff V5.5 connects generation, docking, pocket-electronic scoring, and 3D review into one auditable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D3C"/>
                </a:solidFill>
              </a:defRPr>
            </a:pPr>
            <a:r>
              <a:t>Project aim: generate and prioritize pocket-fitted JAK2 macrocycle candidates.</a:t>
            </a:r>
          </a:p>
          <a:p>
            <a:pPr>
              <a:spcAft>
                <a:spcPts val="500"/>
              </a:spcAft>
              <a:defRPr sz="1500">
                <a:solidFill>
                  <a:srgbClr val="232D3C"/>
                </a:solidFill>
              </a:defRPr>
            </a:pPr>
            <a:r>
              <a:t>Current claim: pocket/electronic-conditioned generation plus post-generation docking and pocket rescoring.</a:t>
            </a:r>
          </a:p>
          <a:p>
            <a:pPr>
              <a:spcAft>
                <a:spcPts val="500"/>
              </a:spcAft>
              <a:defRPr sz="1500">
                <a:solidFill>
                  <a:srgbClr val="232D3C"/>
                </a:solidFill>
              </a:defRPr>
            </a:pPr>
            <a:r>
              <a:t>Not claimed: wet-lab validation or full residue-level protein-conditioned diffusion.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86384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270"/>
                </a:solidFill>
              </a:defRPr>
            </a:pPr>
            <a:r>
              <a:t>The system must be scientifically honest, reproducible, and useful for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7899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62179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Need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Implementation in EMD V5.5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Functional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Curate JAK2 ligands, generate macrocycles, dock, rescore, rank, export dashboard.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Non-functional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Low-resource runnable workflow; explicit logs; no fake metrics; clear limitations.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End-user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Reviewers can inspect top candidates, metrics, pose evidence, and project maturity.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Acceptance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All outputs must trace to project CSV/JSON/PDB/PDBQT artifacts.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2928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2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86384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270"/>
                </a:solidFill>
              </a:defRPr>
            </a:pPr>
            <a:r>
              <a:t>Evidence chain from curated ligands to protein-ligand 3D review</a:t>
            </a:r>
          </a:p>
        </p:txBody>
      </p:sp>
      <p:pic>
        <p:nvPicPr>
          <p:cNvPr id="7" name="Picture 6" descr="emd_v5_5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70432"/>
            <a:ext cx="10789920" cy="38893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86384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270"/>
                </a:solidFill>
              </a:defRPr>
            </a:pPr>
            <a:r>
              <a:t>V5.5 introduced pocket/electronic-conditioned decision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D3C"/>
                </a:solidFill>
              </a:defRPr>
            </a:pPr>
            <a:r>
              <a:t>Pocket profile: hydrophobic, donor/acceptor, aromatic, charge proxy, and residue-contact features.</a:t>
            </a:r>
          </a:p>
          <a:p>
            <a:pPr>
              <a:spcAft>
                <a:spcPts val="500"/>
              </a:spcAft>
              <a:defRPr sz="1400">
                <a:solidFill>
                  <a:srgbClr val="232D3C"/>
                </a:solidFill>
              </a:defRPr>
            </a:pPr>
            <a:r>
              <a:t>Generation: anchor/linker decisions, exact linker novelty enforcement, and validity/reward gate.</a:t>
            </a:r>
          </a:p>
          <a:p>
            <a:pPr>
              <a:spcAft>
                <a:spcPts val="500"/>
              </a:spcAft>
              <a:defRPr sz="1400">
                <a:solidFill>
                  <a:srgbClr val="232D3C"/>
                </a:solidFill>
              </a:defRPr>
            </a:pPr>
            <a:r>
              <a:t>Docking: Vina-GPU 2.1 scoring against JAK2 5AEP grid.</a:t>
            </a:r>
          </a:p>
          <a:p>
            <a:pPr>
              <a:spcAft>
                <a:spcPts val="500"/>
              </a:spcAft>
              <a:defRPr sz="1400">
                <a:solidFill>
                  <a:srgbClr val="232D3C"/>
                </a:solidFill>
              </a:defRPr>
            </a:pPr>
            <a:r>
              <a:t>Dashboard: real candidate table plus protein-pose 3D viewer.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25880"/>
          <a:ext cx="44805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</a:tblGrid>
              <a:tr h="489857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C"/>
                          </a:solidFill>
                        </a:defRPr>
                      </a:pPr>
                      <a:r>
                        <a:t>Candidates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C"/>
                          </a:solidFill>
                        </a:defRPr>
                      </a:pPr>
                      <a:r>
                        <a:t>1,113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C"/>
                          </a:solidFill>
                        </a:defRPr>
                      </a:pPr>
                      <a:r>
                        <a:t>Docked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C"/>
                          </a:solidFill>
                        </a:defRPr>
                      </a:pPr>
                      <a:r>
                        <a:t>1,036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C"/>
                          </a:solidFill>
                        </a:defRPr>
                      </a:pPr>
                      <a:r>
                        <a:t>Raw attempts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C"/>
                          </a:solidFill>
                        </a:defRPr>
                      </a:pPr>
                      <a:r>
                        <a:t>87,287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C"/>
                          </a:solidFill>
                        </a:defRPr>
                      </a:pPr>
                      <a:r>
                        <a:t>Valid 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C"/>
                          </a:solidFill>
                        </a:defRPr>
                      </a:pPr>
                      <a:r>
                        <a:t>1,113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C"/>
                          </a:solidFill>
                        </a:defRPr>
                      </a:pPr>
                      <a:r>
                        <a:t>Unit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C"/>
                          </a:solidFill>
                        </a:defRPr>
                      </a:pPr>
                      <a:r>
                        <a:t>40/40</a:t>
                      </a:r>
                    </a:p>
                  </a:txBody>
                  <a:tcPr/>
                </a:tc>
              </a:tr>
              <a:tr h="48985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C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D3C"/>
                          </a:solidFill>
                        </a:defRPr>
                      </a:pPr>
                      <a:r>
                        <a:t>54/54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2928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2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Benchmark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86384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270"/>
                </a:solidFill>
              </a:defRPr>
            </a:pPr>
            <a:r>
              <a:t>MED-style comparison, with EMD scope clearly labeled</a:t>
            </a:r>
          </a:p>
        </p:txBody>
      </p:sp>
      <p:pic>
        <p:nvPicPr>
          <p:cNvPr id="7" name="Picture 6" descr="med_vs_emd_lates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11247120" cy="4721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2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Version 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86384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270"/>
                </a:solidFill>
              </a:defRPr>
            </a:pPr>
            <a:r>
              <a:t>EMD branches show the tradeoff between novelty gating and raw validity</a:t>
            </a:r>
          </a:p>
        </p:txBody>
      </p:sp>
      <p:pic>
        <p:nvPicPr>
          <p:cNvPr id="7" name="Picture 6" descr="emd_version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11247120" cy="4721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Docking and Pocket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86384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270"/>
                </a:solidFill>
              </a:defRPr>
            </a:pPr>
            <a:r>
              <a:t>Top-ranked candidate combines strong docking with pocket-electronic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2560320" cy="914400"/>
          </a:xfrm>
          <a:prstGeom prst="roundRect">
            <a:avLst/>
          </a:prstGeom>
          <a:solidFill>
            <a:srgbClr val="F2F7FC"/>
          </a:solidFill>
          <a:ln>
            <a:solidFill>
              <a:srgbClr val="B4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4E79"/>
                </a:solidFill>
              </a:defRPr>
            </a:pPr>
            <a:r>
              <a:t>-12.7</a:t>
            </a:r>
          </a:p>
          <a:p>
            <a:pPr algn="ctr">
              <a:defRPr sz="1050">
                <a:solidFill>
                  <a:srgbClr val="46505F"/>
                </a:solidFill>
              </a:defRPr>
            </a:pPr>
            <a:r>
              <a:t>Best Vina-GPU kcal/mol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234440"/>
            <a:ext cx="2560320" cy="914400"/>
          </a:xfrm>
          <a:prstGeom prst="roundRect">
            <a:avLst/>
          </a:prstGeom>
          <a:solidFill>
            <a:srgbClr val="F2F7FC"/>
          </a:solidFill>
          <a:ln>
            <a:solidFill>
              <a:srgbClr val="B4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4E79"/>
                </a:solidFill>
              </a:defRPr>
            </a:pPr>
            <a:r>
              <a:t>0.810776</a:t>
            </a:r>
          </a:p>
          <a:p>
            <a:pPr algn="ctr">
              <a:defRPr sz="1050">
                <a:solidFill>
                  <a:srgbClr val="46505F"/>
                </a:solidFill>
              </a:defRPr>
            </a:pPr>
            <a:r>
              <a:t>Pocket fit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34440"/>
            <a:ext cx="2560320" cy="914400"/>
          </a:xfrm>
          <a:prstGeom prst="roundRect">
            <a:avLst/>
          </a:prstGeom>
          <a:solidFill>
            <a:srgbClr val="F2F7FC"/>
          </a:solidFill>
          <a:ln>
            <a:solidFill>
              <a:srgbClr val="B4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4E79"/>
                </a:solidFill>
              </a:defRPr>
            </a:pPr>
            <a:r>
              <a:t>0.874199</a:t>
            </a:r>
          </a:p>
          <a:p>
            <a:pPr algn="ctr">
              <a:defRPr sz="1050">
                <a:solidFill>
                  <a:srgbClr val="46505F"/>
                </a:solidFill>
              </a:defRPr>
            </a:pPr>
            <a:r>
              <a:t>Final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234440"/>
            <a:ext cx="2103120" cy="914400"/>
          </a:xfrm>
          <a:prstGeom prst="roundRect">
            <a:avLst/>
          </a:prstGeom>
          <a:solidFill>
            <a:srgbClr val="F2F7FC"/>
          </a:solidFill>
          <a:ln>
            <a:solidFill>
              <a:srgbClr val="B4C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F4E79"/>
                </a:solidFill>
              </a:defRPr>
            </a:pPr>
            <a:r>
              <a:t>0.4132</a:t>
            </a:r>
          </a:p>
          <a:p>
            <a:pPr algn="ctr">
              <a:defRPr sz="1050">
                <a:solidFill>
                  <a:srgbClr val="46505F"/>
                </a:solidFill>
              </a:defRPr>
            </a:pPr>
            <a:r>
              <a:t>QED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5577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D3C"/>
                </a:solidFill>
              </a:defRPr>
            </a:pPr>
            <a:r>
              <a:t>Top candidate: CAND_3688f8acdc</a:t>
            </a:r>
          </a:p>
          <a:p>
            <a:pPr>
              <a:spcAft>
                <a:spcPts val="500"/>
              </a:spcAft>
              <a:defRPr sz="1400">
                <a:solidFill>
                  <a:srgbClr val="232D3C"/>
                </a:solidFill>
              </a:defRPr>
            </a:pPr>
            <a:r>
              <a:t>Macrocycle ring size: 16; Lipinski violations: 0.</a:t>
            </a:r>
          </a:p>
          <a:p>
            <a:pPr>
              <a:spcAft>
                <a:spcPts val="500"/>
              </a:spcAft>
              <a:defRPr sz="1400">
                <a:solidFill>
                  <a:srgbClr val="232D3C"/>
                </a:solidFill>
              </a:defRPr>
            </a:pPr>
            <a:r>
              <a:t>Pocket scoring combines electrostatic, H-bond, hydrophobic, and aromatic contact components.</a:t>
            </a:r>
          </a:p>
          <a:p>
            <a:pPr>
              <a:spcAft>
                <a:spcPts val="500"/>
              </a:spcAft>
              <a:defRPr sz="1400">
                <a:solidFill>
                  <a:srgbClr val="232D3C"/>
                </a:solidFill>
              </a:defRPr>
            </a:pPr>
            <a:r>
              <a:t>Top contact residues include ARG:A:980, TYR:A:931, ASN:A:981, LEU:A:932, ASP:A:939, and LYS:A:882.</a:t>
            </a:r>
          </a:p>
        </p:txBody>
      </p:sp>
      <p:pic>
        <p:nvPicPr>
          <p:cNvPr id="12" name="Picture 11" descr="top_candidate_CAND_3688f8ac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514600"/>
            <a:ext cx="4480560" cy="3086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928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3D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86384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270"/>
                </a:solidFill>
              </a:defRPr>
            </a:pPr>
            <a:r>
              <a:t>Real receptor and pose files are now directly reviewable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D3C"/>
                </a:solidFill>
              </a:defRPr>
            </a:pPr>
            <a:r>
              <a:t>Viewer embeds real JAK2 receptor PDB and 1,036 real docked pose texts.</a:t>
            </a:r>
          </a:p>
          <a:p>
            <a:pPr>
              <a:spcAft>
                <a:spcPts val="500"/>
              </a:spcAft>
              <a:defRPr sz="1500">
                <a:solidFill>
                  <a:srgbClr val="232D3C"/>
                </a:solidFill>
              </a:defRPr>
            </a:pPr>
            <a:r>
              <a:t>Candidate list supports direct click-to-open with rank, Vina, pocket fit, contact count, and pose status.</a:t>
            </a:r>
          </a:p>
          <a:p>
            <a:pPr>
              <a:spcAft>
                <a:spcPts val="500"/>
              </a:spcAft>
              <a:defRPr sz="1500">
                <a:solidFill>
                  <a:srgbClr val="232D3C"/>
                </a:solidFill>
              </a:defRPr>
            </a:pPr>
            <a:r>
              <a:t>Controls include protein+pose, pose-only, protein-only, surfaces, atom labels, bond lengths, contact labels, and docking grid box.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2344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D3C"/>
                </a:solidFill>
              </a:defRPr>
            </a:pPr>
            <a:r>
              <a:t>Important: the viewer does not invent structures.</a:t>
            </a:r>
          </a:p>
          <a:p>
            <a:pPr>
              <a:spcAft>
                <a:spcPts val="500"/>
              </a:spcAft>
              <a:defRPr sz="1500">
                <a:solidFill>
                  <a:srgbClr val="232D3C"/>
                </a:solidFill>
              </a:defRPr>
            </a:pPr>
            <a:r>
              <a:t>If a pose is missing, the interface reports it as unavailable.</a:t>
            </a:r>
          </a:p>
          <a:p>
            <a:pPr>
              <a:spcAft>
                <a:spcPts val="500"/>
              </a:spcAft>
              <a:defRPr sz="1500">
                <a:solidFill>
                  <a:srgbClr val="232D3C"/>
                </a:solidFill>
              </a:defRPr>
            </a:pPr>
            <a:r>
              <a:t>All candidate metrics come from interface/data.js generated from project output files.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Project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86384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270"/>
                </a:solidFill>
              </a:defRPr>
            </a:pPr>
            <a:r>
              <a:t>Complete as a computational evidence package; benchmark gaps are explicit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D3C"/>
                </a:solidFill>
              </a:defRPr>
            </a:pPr>
            <a:r>
              <a:t>Completed: data curation, features, V5.5 generation, docking, pocket scoring, ADMET proxy scoring, final ranking, dashboard, validation.</a:t>
            </a:r>
          </a:p>
          <a:p>
            <a:pPr>
              <a:spcAft>
                <a:spcPts val="500"/>
              </a:spcAft>
              <a:defRPr sz="1500">
                <a:solidFill>
                  <a:srgbClr val="232D3C"/>
                </a:solidFill>
              </a:defRPr>
            </a:pPr>
            <a:r>
              <a:t>Evidence package: candidate CSVs, docking scores, pose files, pocket profile JSON, reports, interface data, tests.</a:t>
            </a:r>
          </a:p>
          <a:p>
            <a:pPr>
              <a:spcAft>
                <a:spcPts val="500"/>
              </a:spcAft>
              <a:defRPr sz="1500">
                <a:solidFill>
                  <a:srgbClr val="232D3C"/>
                </a:solidFill>
              </a:defRPr>
            </a:pPr>
            <a:r>
              <a:t>Validation passed: 54/54 checks; unit tests passed: 40/40.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2344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D3C"/>
                </a:solidFill>
              </a:defRPr>
            </a:pPr>
            <a:r>
              <a:t>Remaining scientific gaps: experimental validation, MD stability, free-energy estimation, residue-level learned pocket encoder.</a:t>
            </a:r>
          </a:p>
          <a:p>
            <a:pPr>
              <a:spcAft>
                <a:spcPts val="500"/>
              </a:spcAft>
              <a:defRPr sz="1500">
                <a:solidFill>
                  <a:srgbClr val="232D3C"/>
                </a:solidFill>
              </a:defRPr>
            </a:pPr>
            <a:r>
              <a:t>Honest benchmark status: EMD V5.5 is target-specific and auditable; it does not fully beat MED on MED's macrocycle-generation benchmark.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Learnings and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86384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270"/>
                </a:solidFill>
              </a:defRPr>
            </a:pPr>
            <a:r>
              <a:t>The next leap is V6 protein-conditioned generation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107899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624839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End-to-end evidence matters more than isolated generator scores.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Raw-attempt logging prevents false benchmark claims.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3D review makes candidate evidence understandable to non-coding reviewers.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V6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Train residue-level interaction encoder using PDBbind/PLINDER/BioLiP-style contact data.</a:t>
                      </a:r>
                    </a:p>
                  </a:txBody>
                  <a:tcPr/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V6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D3C"/>
                          </a:solidFill>
                        </a:defRPr>
                      </a:pPr>
                      <a:r>
                        <a:t>Condition anchor and linker generation on aligned pocket poses, not only global pocket features.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2928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270"/>
                </a:solidFill>
              </a:defRPr>
            </a:pPr>
            <a:r>
              <a:t>Computational candidates only - experimental validation remains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692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32D3C"/>
                </a:solidFill>
              </a:defRPr>
            </a:pPr>
            <a:r>
              <a:t>Project: ElectroMacroDiff V5.5</a:t>
            </a:r>
          </a:p>
          <a:p>
            <a:pPr>
              <a:spcAft>
                <a:spcPts val="500"/>
              </a:spcAft>
              <a:defRPr sz="2000">
                <a:solidFill>
                  <a:srgbClr val="232D3C"/>
                </a:solidFill>
              </a:defRPr>
            </a:pPr>
            <a:r>
              <a:t>Target: JAK2 5AEP</a:t>
            </a:r>
          </a:p>
          <a:p>
            <a:pPr>
              <a:spcAft>
                <a:spcPts val="500"/>
              </a:spcAft>
              <a:defRPr sz="2000">
                <a:solidFill>
                  <a:srgbClr val="232D3C"/>
                </a:solidFill>
              </a:defRPr>
            </a:pPr>
            <a:r>
              <a:t>Submission package includes PPTX, IQAC DOCX, research paper draft, comparison images, and artifact summary.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456</Words>
  <Application>Microsoft Office PowerPoint</Application>
  <PresentationFormat>Widescreen</PresentationFormat>
  <Paragraphs>54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Asha Sheldon</dc:creator>
  <cp:lastModifiedBy>Stravis2 </cp:lastModifiedBy>
  <cp:revision>27</cp:revision>
  <dcterms:created xsi:type="dcterms:W3CDTF">2024-06-11T09:24:19Z</dcterms:created>
  <dcterms:modified xsi:type="dcterms:W3CDTF">2026-03-23T07:03:49Z</dcterms:modified>
</cp:coreProperties>
</file>